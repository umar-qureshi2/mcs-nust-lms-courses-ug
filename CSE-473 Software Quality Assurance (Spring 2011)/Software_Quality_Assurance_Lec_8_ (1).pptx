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4" r:id="rId4"/>
  </p:sldMasterIdLst>
  <p:notesMasterIdLst>
    <p:notesMasterId r:id="rId39"/>
  </p:notesMasterIdLst>
  <p:sldIdLst>
    <p:sldId id="268" r:id="rId5"/>
    <p:sldId id="302" r:id="rId6"/>
    <p:sldId id="303" r:id="rId7"/>
    <p:sldId id="304" r:id="rId8"/>
    <p:sldId id="305" r:id="rId9"/>
    <p:sldId id="257" r:id="rId10"/>
    <p:sldId id="300" r:id="rId11"/>
    <p:sldId id="301" r:id="rId12"/>
    <p:sldId id="306" r:id="rId13"/>
    <p:sldId id="307" r:id="rId14"/>
    <p:sldId id="308" r:id="rId15"/>
    <p:sldId id="309" r:id="rId16"/>
    <p:sldId id="310" r:id="rId17"/>
    <p:sldId id="311" r:id="rId18"/>
    <p:sldId id="313" r:id="rId19"/>
    <p:sldId id="314" r:id="rId20"/>
    <p:sldId id="312" r:id="rId21"/>
    <p:sldId id="267" r:id="rId22"/>
    <p:sldId id="275" r:id="rId23"/>
    <p:sldId id="276" r:id="rId24"/>
    <p:sldId id="285" r:id="rId25"/>
    <p:sldId id="281" r:id="rId26"/>
    <p:sldId id="283" r:id="rId27"/>
    <p:sldId id="287" r:id="rId28"/>
    <p:sldId id="286" r:id="rId29"/>
    <p:sldId id="277" r:id="rId30"/>
    <p:sldId id="288" r:id="rId31"/>
    <p:sldId id="289" r:id="rId32"/>
    <p:sldId id="290" r:id="rId33"/>
    <p:sldId id="299" r:id="rId34"/>
    <p:sldId id="291" r:id="rId35"/>
    <p:sldId id="292" r:id="rId36"/>
    <p:sldId id="293" r:id="rId37"/>
    <p:sldId id="294" r:id="rId38"/>
  </p:sldIdLst>
  <p:sldSz cx="9144000" cy="6858000" type="screen4x3"/>
  <p:notesSz cx="6858000" cy="9144000"/>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463" autoAdjust="0"/>
    <p:restoredTop sz="86644" autoAdjust="0"/>
  </p:normalViewPr>
  <p:slideViewPr>
    <p:cSldViewPr>
      <p:cViewPr>
        <p:scale>
          <a:sx n="70" d="100"/>
          <a:sy n="70" d="100"/>
        </p:scale>
        <p:origin x="-1086" y="3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2447E72A-D913-4DC2-9E0A-E520CE8FCC86}" type="datetimeFigureOut">
              <a:rPr lang="en-US" smtClean="0"/>
              <a:pPr/>
              <a:t>3/24/2011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A5D78FC6-CE17-4259-A63C-DDFC12E048F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5D78FC6-CE17-4259-A63C-DDFC12E048F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5D78FC6-CE17-4259-A63C-DDFC12E048FC}" type="slidenum">
              <a:rPr lang="en-US" smtClean="0"/>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dirty="0"/>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lgn="ctr"/>
            <a:fld id="{743653DA-8BF4-4869-96FE-9BCF43372D46}" type="datetime8">
              <a:rPr lang="en-US" smtClean="0"/>
              <a:pPr algn="ctr"/>
              <a:t>3/24/2011 9:43 AM</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72AC53DF-4216-466D-99A7-94400E6C2A25}" type="slidenum">
              <a:rPr lang="en-US" smtClean="0"/>
              <a:pPr/>
              <a:t>‹#›</a:t>
            </a:fld>
            <a:endParaRPr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B7129108-AC8D-4212-9283-60D9E99BF07A}" type="datetime8">
              <a:rPr lang="en-US" smtClean="0"/>
              <a:pPr/>
              <a:t>3/24/2011 9:43 AM</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dirty="0"/>
          </a:p>
        </p:txBody>
      </p:sp>
      <p:sp>
        <p:nvSpPr>
          <p:cNvPr id="12" name="Date Placeholder 11"/>
          <p:cNvSpPr>
            <a:spLocks noGrp="1"/>
          </p:cNvSpPr>
          <p:nvPr>
            <p:ph type="dt" sz="half" idx="10"/>
          </p:nvPr>
        </p:nvSpPr>
        <p:spPr/>
        <p:txBody>
          <a:bodyPr/>
          <a:lstStyle/>
          <a:p>
            <a:fld id="{B6DED3D3-6235-4F4C-B439-DF277FB555A7}" type="datetime8">
              <a:rPr lang="en-US" smtClean="0"/>
              <a:pPr/>
              <a:t>3/24/2011 9:43 AM</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lgn="ctr"/>
            <a:fld id="{1AD93096-5B34-4342-9326-69289CEAE4C2}" type="slidenum">
              <a:rPr lang="en-US" smtClean="0"/>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
        <p:nvSpPr>
          <p:cNvPr id="10" name="Footer Placeholder 3"/>
          <p:cNvSpPr txBox="1">
            <a:spLocks/>
          </p:cNvSpPr>
          <p:nvPr userDrawn="1"/>
        </p:nvSpPr>
        <p:spPr>
          <a:xfrm>
            <a:off x="0" y="6477000"/>
            <a:ext cx="1676400" cy="365125"/>
          </a:xfrm>
          <a:prstGeom prst="rect">
            <a:avLst/>
          </a:prstGeom>
        </p:spPr>
        <p:txBody>
          <a:bodyPr vert="horz"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smtClean="0">
                <a:ln>
                  <a:noFill/>
                </a:ln>
                <a:solidFill>
                  <a:schemeClr val="bg1"/>
                </a:solidFill>
                <a:effectLst/>
                <a:uLnTx/>
                <a:uFillTx/>
                <a:latin typeface="+mn-lt"/>
                <a:ea typeface="+mn-ea"/>
                <a:cs typeface="+mn-cs"/>
              </a:rPr>
              <a:t>Dr. Seemab Latif</a:t>
            </a:r>
            <a:endParaRPr kumimoji="0" lang="en-US" sz="1600" b="1" i="0" u="none" strike="noStrike" kern="1200" cap="none" spc="0" normalizeH="0" baseline="0" noProof="0" dirty="0">
              <a:ln>
                <a:noFill/>
              </a:ln>
              <a:solidFill>
                <a:schemeClr val="bg1"/>
              </a:solidFill>
              <a:effectLst/>
              <a:uLnTx/>
              <a:uFillTx/>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5"/>
          </p:nvPr>
        </p:nvSpPr>
        <p:spPr/>
        <p:txBody>
          <a:bodyPr rtlCol="0"/>
          <a:lstStyle/>
          <a:p>
            <a:fld id="{3B5F1E3E-4B2F-4895-B65E-28B2E64F39F6}" type="datetime8">
              <a:rPr lang="en-US" smtClean="0"/>
              <a:pPr/>
              <a:t>3/24/2011 9:43 AM</a:t>
            </a:fld>
            <a:endParaRPr lang="en-US"/>
          </a:p>
        </p:txBody>
      </p:sp>
      <p:sp>
        <p:nvSpPr>
          <p:cNvPr id="10" name="Slide Number Placeholder 9"/>
          <p:cNvSpPr>
            <a:spLocks noGrp="1"/>
          </p:cNvSpPr>
          <p:nvPr>
            <p:ph type="sldNum" sz="quarter" idx="16"/>
          </p:nvPr>
        </p:nvSpPr>
        <p:spPr/>
        <p:txBody>
          <a:bodyPr rtlCol="0"/>
          <a:lstStyle/>
          <a:p>
            <a:pPr algn="ctr"/>
            <a:fld id="{1AD93096-5B34-4342-9326-69289CEAE4C2}" type="slidenum">
              <a:rPr lang="en-US" smtClean="0"/>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lang="en-US" smtClean="0"/>
              <a:t>Click to edit Master title style</a:t>
            </a:r>
            <a:endParaRPr lang="en-US" dirty="0"/>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5"/>
          </p:nvPr>
        </p:nvSpPr>
        <p:spPr/>
        <p:txBody>
          <a:bodyPr rtlCol="0"/>
          <a:lstStyle/>
          <a:p>
            <a:fld id="{63085435-8225-4333-BFFA-0096413F0D76}" type="datetime8">
              <a:rPr lang="en-US" smtClean="0"/>
              <a:pPr/>
              <a:t>3/24/2011 9:43 AM</a:t>
            </a:fld>
            <a:endParaRPr lang="en-US"/>
          </a:p>
        </p:txBody>
      </p:sp>
      <p:sp>
        <p:nvSpPr>
          <p:cNvPr id="12" name="Slide Number Placeholder 11"/>
          <p:cNvSpPr>
            <a:spLocks noGrp="1"/>
          </p:cNvSpPr>
          <p:nvPr>
            <p:ph type="sldNum" sz="quarter" idx="16"/>
          </p:nvPr>
        </p:nvSpPr>
        <p:spPr/>
        <p:txBody>
          <a:bodyPr rtlCol="0"/>
          <a:lstStyle/>
          <a:p>
            <a:pPr algn="ctr"/>
            <a:fld id="{1AD93096-5B34-4342-9326-69289CEAE4C2}" type="slidenum">
              <a:rPr lang="en-US" smtClean="0"/>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783C494-2A87-468C-A21B-CB14FB9ABB00}" type="datetime8">
              <a:rPr lang="en-US" smtClean="0"/>
              <a:pPr/>
              <a:t>3/24/2011 9:43 AM</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180FA0-5B31-4864-A2BB-719EA5A679C6}" type="datetime8">
              <a:rPr lang="en-US" smtClean="0"/>
              <a:pPr/>
              <a:t>3/24/2011 9:43 AM</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AD93096-5B34-4342-9326-69289CEAE4C2}" type="slidenum">
              <a:rPr lang="en-US" smtClean="0"/>
              <a:pPr/>
              <a:t>‹#›</a:t>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p>
            <a:fld id="{4BECC0C8-36B8-442A-833D-B6AACE86BB77}" type="datetime8">
              <a:rPr lang="en-US" smtClean="0"/>
              <a:pPr/>
              <a:t>3/24/2011 9:43 AM</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lang="en-US" smtClean="0"/>
              <a:t>Click to edit Master title style</a:t>
            </a:r>
            <a:endParaRPr lang="en-US" dirty="0"/>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6248400"/>
            <a:ext cx="2667000" cy="365125"/>
          </a:xfrm>
        </p:spPr>
        <p:txBody>
          <a:bodyPr rtlCol="0"/>
          <a:lstStyle/>
          <a:p>
            <a:fld id="{51E20EC5-AC53-4169-941E-EDF10CD23748}" type="datetime8">
              <a:rPr lang="en-US" smtClean="0"/>
              <a:pPr/>
              <a:t>3/24/2011 9:43 AM</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lgn="ctr"/>
            <a:fld id="{1AD93096-5B34-4342-9326-69289CEAE4C2}" type="slidenum">
              <a:rPr lang="en-US" smtClean="0"/>
              <a:pPr algn="ctr"/>
              <a:t>‹#›</a:t>
            </a:fld>
            <a:endParaRPr lang="en-US" sz="2800"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lang="en-US" smtClean="0"/>
              <a:t>Click icon to add picture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3816DF-213E-421B-92D3-C068DBB023D6}" type="datetime8">
              <a:rPr lang="en-US" smtClean="0">
                <a:solidFill>
                  <a:schemeClr val="tx2"/>
                </a:solidFill>
              </a:rPr>
              <a:pPr/>
              <a:t>3/24/2011 9:43 AM</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AC53DF-4216-466D-99A7-94400E6C2A25}" type="slidenum">
              <a:rPr lang="en-US" sz="1200" smtClean="0">
                <a:solidFill>
                  <a:schemeClr val="tx2"/>
                </a:solidFill>
              </a: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553200" y="6248402"/>
            <a:ext cx="2209800" cy="365125"/>
          </a:xfrm>
        </p:spPr>
        <p:txBody>
          <a:bodyPr/>
          <a:lstStyle/>
          <a:p>
            <a:fld id="{8D3816DF-213E-421B-92D3-C068DBB023D6}" type="datetime8">
              <a:rPr lang="en-US" smtClean="0">
                <a:solidFill>
                  <a:schemeClr val="tx2"/>
                </a:solidFill>
              </a:rPr>
              <a:pPr/>
              <a:t>3/24/2011 9:43 AM</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2AC53DF-4216-466D-99A7-94400E6C2A25}" type="slidenum">
              <a:rPr lang="en-US" sz="1200" smtClean="0">
                <a:solidFill>
                  <a:schemeClr val="tx2"/>
                </a:solidFill>
              </a: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lang="en-US" smtClean="0"/>
              <a:t>Click to edit Master title style</a:t>
            </a:r>
            <a:endParaRPr lang="en-US" dirty="0"/>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a:defRPr sz="1400">
                <a:solidFill>
                  <a:schemeClr val="tx2"/>
                </a:solidFill>
              </a:defRPr>
            </a:lvl1pPr>
          </a:lstStyle>
          <a:p>
            <a:fld id="{8D3816DF-213E-421B-92D3-C068DBB023D6}" type="datetime8">
              <a:rPr lang="en-US" smtClean="0">
                <a:solidFill>
                  <a:schemeClr val="tx2"/>
                </a:solidFill>
              </a:rPr>
              <a:pPr/>
              <a:t>3/24/2011 9:43 AM</a:t>
            </a:fld>
            <a:endParaRPr lang="en-US" sz="1400" dirty="0">
              <a:solidFill>
                <a:schemeClr val="tx2"/>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a:defRPr sz="1400">
                <a:solidFill>
                  <a:schemeClr val="tx2"/>
                </a:solidFill>
              </a:defRPr>
            </a:lvl1pPr>
          </a:lstStyle>
          <a:p>
            <a:pPr algn="r"/>
            <a:endParaRPr lang="en-US" sz="1400" dirty="0">
              <a:solidFill>
                <a:schemeClr val="tx2"/>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a:defRPr sz="1400" b="1">
                <a:solidFill>
                  <a:srgbClr val="FFFFFF"/>
                </a:solidFill>
              </a:defRPr>
            </a:lvl1pPr>
          </a:lstStyle>
          <a:p>
            <a:pPr algn="ctr"/>
            <a:fld id="{72AC53DF-4216-466D-99A7-94400E6C2A25}" type="slidenum">
              <a:rPr lang="en-US" sz="1200" smtClean="0">
                <a:solidFill>
                  <a:schemeClr val="tx2"/>
                </a:solidFill>
              </a:rPr>
              <a:pPr algn="ctr"/>
              <a:t>‹#›</a:t>
            </a:fld>
            <a:endParaRPr lang="en-US" sz="1400" b="1" dirty="0">
              <a:solidFill>
                <a:srgbClr val="FFFFFF"/>
              </a:solidFill>
            </a:endParaRPr>
          </a:p>
        </p:txBody>
      </p:sp>
      <p:sp>
        <p:nvSpPr>
          <p:cNvPr id="10" name="Footer Placeholder 3"/>
          <p:cNvSpPr txBox="1">
            <a:spLocks/>
          </p:cNvSpPr>
          <p:nvPr userDrawn="1"/>
        </p:nvSpPr>
        <p:spPr>
          <a:xfrm>
            <a:off x="0" y="6477000"/>
            <a:ext cx="16764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smtClean="0">
                <a:ln>
                  <a:noFill/>
                </a:ln>
                <a:solidFill>
                  <a:schemeClr val="tx2"/>
                </a:solidFill>
                <a:effectLst/>
                <a:uLnTx/>
                <a:uFillTx/>
                <a:latin typeface="+mn-lt"/>
                <a:ea typeface="+mn-ea"/>
                <a:cs typeface="+mn-cs"/>
              </a:rPr>
              <a:t>Dr. Seemab Latif</a:t>
            </a:r>
            <a:endParaRPr kumimoji="0" lang="en-US" sz="1600" b="1" i="0" u="none" strike="noStrike" kern="1200" cap="none" spc="0" normalizeH="0" baseline="0" noProof="0" dirty="0">
              <a:ln>
                <a:noFill/>
              </a:ln>
              <a:solidFill>
                <a:schemeClr val="tx2"/>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rtl="0" eaLnBrk="1" latinLnBrk="0" hangingPunct="1">
        <a:spcBef>
          <a:spcPct val="0"/>
        </a:spcBef>
        <a:buNone/>
        <a:defRPr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457200" y="1600200"/>
            <a:ext cx="8382000" cy="914400"/>
          </a:xfrm>
        </p:spPr>
        <p:txBody>
          <a:bodyPr/>
          <a:lstStyle/>
          <a:p>
            <a:r>
              <a:rPr lang="en-US" dirty="0" smtClean="0"/>
              <a:t>Software Quality Assurance</a:t>
            </a:r>
            <a:endParaRPr lang="en-US" dirty="0"/>
          </a:p>
        </p:txBody>
      </p:sp>
      <p:sp>
        <p:nvSpPr>
          <p:cNvPr id="3" name="Rectangle 2"/>
          <p:cNvSpPr>
            <a:spLocks noGrp="1"/>
          </p:cNvSpPr>
          <p:nvPr>
            <p:ph type="subTitle" idx="1"/>
          </p:nvPr>
        </p:nvSpPr>
        <p:spPr/>
        <p:txBody>
          <a:bodyPr>
            <a:normAutofit/>
          </a:bodyPr>
          <a:lstStyle/>
          <a:p>
            <a:pPr lvl="0" algn="r">
              <a:defRPr/>
            </a:pPr>
            <a:r>
              <a:rPr lang="en-US" sz="2800" dirty="0" smtClean="0"/>
              <a:t>Lecture No. </a:t>
            </a:r>
            <a:r>
              <a:rPr lang="en-US" sz="2800" dirty="0" smtClean="0"/>
              <a:t>8</a:t>
            </a:r>
            <a:endParaRPr lang="en-US" sz="2800" dirty="0"/>
          </a:p>
        </p:txBody>
      </p:sp>
      <p:sp>
        <p:nvSpPr>
          <p:cNvPr id="4" name="Subtitle 2"/>
          <p:cNvSpPr txBox="1">
            <a:spLocks/>
          </p:cNvSpPr>
          <p:nvPr/>
        </p:nvSpPr>
        <p:spPr>
          <a:xfrm>
            <a:off x="5943600" y="5181600"/>
            <a:ext cx="3124200" cy="762000"/>
          </a:xfrm>
          <a:prstGeom prst="rect">
            <a:avLst/>
          </a:prstGeom>
        </p:spPr>
        <p:txBody>
          <a:bodyPr vert="horz" anchor="ctr">
            <a:normAutofit/>
          </a:bodyPr>
          <a:lstStyle/>
          <a:p>
            <a:pPr marL="0" marR="0" lvl="0" indent="0" algn="l" defTabSz="914400" rtl="0" eaLnBrk="1" fontAlgn="auto" latinLnBrk="0" hangingPunct="1">
              <a:lnSpc>
                <a:spcPct val="100000"/>
              </a:lnSpc>
              <a:spcBef>
                <a:spcPts val="700"/>
              </a:spcBef>
              <a:spcAft>
                <a:spcPts val="0"/>
              </a:spcAft>
              <a:buClr>
                <a:schemeClr val="accent2"/>
              </a:buClr>
              <a:buSzPct val="60000"/>
              <a:buFont typeface="Wingdings"/>
              <a:buNone/>
              <a:tabLst/>
              <a:defRPr/>
            </a:pPr>
            <a:r>
              <a:rPr kumimoji="0" lang="en-US" sz="3200" i="0" u="none" strike="noStrike" kern="1200" cap="none" spc="0" normalizeH="0" baseline="0" noProof="0" dirty="0" smtClean="0">
                <a:ln>
                  <a:noFill/>
                </a:ln>
                <a:solidFill>
                  <a:srgbClr val="FFFFFF"/>
                </a:solidFill>
                <a:effectLst/>
                <a:uLnTx/>
                <a:uFillTx/>
                <a:latin typeface="+mn-lt"/>
                <a:ea typeface="+mn-ea"/>
                <a:cs typeface="+mn-cs"/>
              </a:rPr>
              <a:t>Dr. </a:t>
            </a:r>
            <a:r>
              <a:rPr kumimoji="0" lang="en-US" sz="3200" i="0" u="none" strike="noStrike" kern="1200" cap="none" spc="0" normalizeH="0" baseline="0" noProof="0" dirty="0" err="1" smtClean="0">
                <a:ln>
                  <a:noFill/>
                </a:ln>
                <a:solidFill>
                  <a:srgbClr val="FFFFFF"/>
                </a:solidFill>
                <a:effectLst/>
                <a:uLnTx/>
                <a:uFillTx/>
                <a:latin typeface="+mn-lt"/>
                <a:ea typeface="+mn-ea"/>
                <a:cs typeface="+mn-cs"/>
              </a:rPr>
              <a:t>Seemab</a:t>
            </a:r>
            <a:r>
              <a:rPr kumimoji="0" lang="en-US" sz="3200" i="0" u="none" strike="noStrike" kern="1200" cap="none" spc="0" normalizeH="0" baseline="0" noProof="0" dirty="0" smtClean="0">
                <a:ln>
                  <a:noFill/>
                </a:ln>
                <a:solidFill>
                  <a:srgbClr val="FFFFFF"/>
                </a:solidFill>
                <a:effectLst/>
                <a:uLnTx/>
                <a:uFillTx/>
                <a:latin typeface="+mn-lt"/>
                <a:ea typeface="+mn-ea"/>
                <a:cs typeface="+mn-cs"/>
              </a:rPr>
              <a:t> </a:t>
            </a:r>
            <a:r>
              <a:rPr kumimoji="0" lang="en-US" sz="3200" i="0" u="none" strike="noStrike" kern="1200" cap="none" spc="0" normalizeH="0" baseline="0" noProof="0" dirty="0" err="1" smtClean="0">
                <a:ln>
                  <a:noFill/>
                </a:ln>
                <a:solidFill>
                  <a:srgbClr val="FFFFFF"/>
                </a:solidFill>
                <a:effectLst/>
                <a:uLnTx/>
                <a:uFillTx/>
                <a:latin typeface="+mn-lt"/>
                <a:ea typeface="+mn-ea"/>
                <a:cs typeface="+mn-cs"/>
              </a:rPr>
              <a:t>Latif</a:t>
            </a:r>
            <a:endParaRPr kumimoji="0" lang="en-US" sz="3200" i="0" u="none" strike="noStrike" kern="1200" cap="none" spc="0" normalizeH="0" baseline="0" noProof="0" dirty="0" smtClean="0">
              <a:ln>
                <a:noFill/>
              </a:ln>
              <a:solidFill>
                <a:srgbClr val="FFFFFF"/>
              </a:solidFill>
              <a:effectLst/>
              <a:uLnTx/>
              <a:uFillTx/>
              <a:latin typeface="+mn-lt"/>
              <a:ea typeface="+mn-ea"/>
              <a:cs typeface="+mn-cs"/>
            </a:endParaRPr>
          </a:p>
        </p:txBody>
      </p:sp>
      <p:sp>
        <p:nvSpPr>
          <p:cNvPr id="5" name="TextBox 4"/>
          <p:cNvSpPr txBox="1"/>
          <p:nvPr/>
        </p:nvSpPr>
        <p:spPr>
          <a:xfrm>
            <a:off x="19777" y="6260068"/>
            <a:ext cx="1877052" cy="369332"/>
          </a:xfrm>
          <a:prstGeom prst="rect">
            <a:avLst/>
          </a:prstGeom>
          <a:noFill/>
        </p:spPr>
        <p:txBody>
          <a:bodyPr wrap="none" rtlCol="0">
            <a:spAutoFit/>
          </a:bodyPr>
          <a:lstStyle/>
          <a:p>
            <a:r>
              <a:rPr lang="en-US" dirty="0" smtClean="0"/>
              <a:t>24</a:t>
            </a:r>
            <a:r>
              <a:rPr lang="en-US" baseline="30000" dirty="0" smtClean="0"/>
              <a:t>th</a:t>
            </a:r>
            <a:r>
              <a:rPr lang="en-US" dirty="0" smtClean="0"/>
              <a:t>  March</a:t>
            </a:r>
            <a:r>
              <a:rPr lang="en-US" dirty="0" smtClean="0"/>
              <a:t>, 2011</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We Save on Testing Costs</a:t>
            </a:r>
            <a:endParaRPr lang="en-US" dirty="0"/>
          </a:p>
        </p:txBody>
      </p:sp>
      <p:sp>
        <p:nvSpPr>
          <p:cNvPr id="3" name="Content Placeholder 2"/>
          <p:cNvSpPr>
            <a:spLocks noGrp="1"/>
          </p:cNvSpPr>
          <p:nvPr>
            <p:ph sz="quarter" idx="1"/>
          </p:nvPr>
        </p:nvSpPr>
        <p:spPr/>
        <p:txBody>
          <a:bodyPr>
            <a:normAutofit fontScale="92500"/>
          </a:bodyPr>
          <a:lstStyle/>
          <a:p>
            <a:r>
              <a:rPr lang="en-US" dirty="0" smtClean="0"/>
              <a:t>No we don’t</a:t>
            </a:r>
          </a:p>
          <a:p>
            <a:r>
              <a:rPr lang="en-GB" dirty="0" smtClean="0"/>
              <a:t>Finding himself under time and budget constraints, a project leader has decided to introduce an ‘economy QA plan’ that limits the quality assurance activities to only a standard design review, as required by the contract with the customer (50% filter) and a comprehensive system test (60% filter). What are the expected savings (if any) in resources invested in defect removal during the development process as opposed to the </a:t>
            </a:r>
            <a:r>
              <a:rPr lang="en-US" dirty="0" smtClean="0"/>
              <a:t>standard quality assurance plan?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Less Testing Costs More</a:t>
            </a:r>
            <a:endParaRPr lang="en-US" dirty="0"/>
          </a:p>
        </p:txBody>
      </p:sp>
      <p:sp>
        <p:nvSpPr>
          <p:cNvPr id="3" name="Content Placeholder 2"/>
          <p:cNvSpPr>
            <a:spLocks noGrp="1"/>
          </p:cNvSpPr>
          <p:nvPr>
            <p:ph sz="quarter" idx="1"/>
          </p:nvPr>
        </p:nvSpPr>
        <p:spPr/>
        <p:txBody>
          <a:bodyPr>
            <a:normAutofit lnSpcReduction="10000"/>
          </a:bodyPr>
          <a:lstStyle/>
          <a:p>
            <a:r>
              <a:rPr lang="en-GB" dirty="0" smtClean="0"/>
              <a:t>For 100 bugs, removal costs go from 1777.66 </a:t>
            </a:r>
            <a:r>
              <a:rPr lang="en-GB" dirty="0" err="1" smtClean="0"/>
              <a:t>rcu</a:t>
            </a:r>
            <a:r>
              <a:rPr lang="en-GB" dirty="0" smtClean="0"/>
              <a:t> (relative cost units) to 5162.50 </a:t>
            </a:r>
            <a:r>
              <a:rPr lang="en-GB" dirty="0" err="1" smtClean="0"/>
              <a:t>rcu</a:t>
            </a:r>
            <a:r>
              <a:rPr lang="en-GB" dirty="0" smtClean="0"/>
              <a:t>, an increase of 3384.84 </a:t>
            </a:r>
            <a:r>
              <a:rPr lang="en-GB" dirty="0" err="1" smtClean="0"/>
              <a:t>rcu</a:t>
            </a:r>
            <a:r>
              <a:rPr lang="en-GB" dirty="0" smtClean="0"/>
              <a:t> or 290%! </a:t>
            </a:r>
          </a:p>
          <a:p>
            <a:r>
              <a:rPr lang="en-GB" dirty="0" smtClean="0"/>
              <a:t>Development becomes more expensive with less testing Effectiveness drops from 93% of bugs found to only 70% of bugs </a:t>
            </a:r>
            <a:r>
              <a:rPr lang="en-US" dirty="0" smtClean="0"/>
              <a:t>found. </a:t>
            </a:r>
          </a:p>
          <a:p>
            <a:r>
              <a:rPr lang="en-GB" dirty="0" smtClean="0"/>
              <a:t>Bugs are still introduced just not filtered out 30% of bugs are left for the customer to find as opposed to 7%.</a:t>
            </a:r>
          </a:p>
          <a:p>
            <a:r>
              <a:rPr lang="en-GB" dirty="0" smtClean="0"/>
              <a:t>How satisfied do you think the customer will be?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 Model</a:t>
            </a:r>
            <a:endParaRPr lang="en-US" dirty="0"/>
          </a:p>
        </p:txBody>
      </p:sp>
      <p:pic>
        <p:nvPicPr>
          <p:cNvPr id="1026" name="Picture 2"/>
          <p:cNvPicPr>
            <a:picLocks noChangeAspect="1" noChangeArrowheads="1"/>
          </p:cNvPicPr>
          <p:nvPr/>
        </p:nvPicPr>
        <p:blipFill>
          <a:blip r:embed="rId2"/>
          <a:srcRect/>
          <a:stretch>
            <a:fillRect/>
          </a:stretch>
        </p:blipFill>
        <p:spPr bwMode="auto">
          <a:xfrm>
            <a:off x="304800" y="1600200"/>
            <a:ext cx="8686800" cy="453165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 Model: Static Tests</a:t>
            </a:r>
            <a:endParaRPr lang="en-US" dirty="0"/>
          </a:p>
        </p:txBody>
      </p:sp>
      <p:pic>
        <p:nvPicPr>
          <p:cNvPr id="2050" name="Picture 2"/>
          <p:cNvPicPr>
            <a:picLocks noChangeAspect="1" noChangeArrowheads="1"/>
          </p:cNvPicPr>
          <p:nvPr/>
        </p:nvPicPr>
        <p:blipFill>
          <a:blip r:embed="rId2"/>
          <a:srcRect/>
          <a:stretch>
            <a:fillRect/>
          </a:stretch>
        </p:blipFill>
        <p:spPr bwMode="auto">
          <a:xfrm>
            <a:off x="308492" y="1581150"/>
            <a:ext cx="8759308" cy="481965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371600" y="2743200"/>
            <a:ext cx="7239000" cy="1676400"/>
          </a:xfrm>
        </p:spPr>
        <p:txBody>
          <a:bodyPr>
            <a:normAutofit/>
          </a:bodyPr>
          <a:lstStyle/>
          <a:p>
            <a:pPr>
              <a:buClr>
                <a:schemeClr val="bg1"/>
              </a:buClr>
              <a:buFont typeface="Wingdings" pitchFamily="2" charset="2"/>
              <a:buChar char="Ø"/>
            </a:pPr>
            <a:r>
              <a:rPr lang="en-US" dirty="0" smtClean="0">
                <a:solidFill>
                  <a:schemeClr val="bg1"/>
                </a:solidFill>
              </a:rPr>
              <a:t>Static analysis of the project, code, documents, design etc.</a:t>
            </a:r>
          </a:p>
          <a:p>
            <a:pPr>
              <a:buClr>
                <a:schemeClr val="bg1"/>
              </a:buClr>
              <a:buFont typeface="Wingdings" pitchFamily="2" charset="2"/>
              <a:buChar char="Ø"/>
            </a:pPr>
            <a:r>
              <a:rPr lang="en-US" dirty="0" smtClean="0">
                <a:solidFill>
                  <a:schemeClr val="bg1"/>
                </a:solidFill>
              </a:rPr>
              <a:t>Way of formal verification </a:t>
            </a:r>
            <a:endParaRPr lang="en-US" dirty="0">
              <a:solidFill>
                <a:schemeClr val="bg1"/>
              </a:solidFill>
            </a:endParaRPr>
          </a:p>
        </p:txBody>
      </p:sp>
      <p:sp>
        <p:nvSpPr>
          <p:cNvPr id="4" name="Title 3"/>
          <p:cNvSpPr>
            <a:spLocks noGrp="1"/>
          </p:cNvSpPr>
          <p:nvPr>
            <p:ph type="title"/>
          </p:nvPr>
        </p:nvSpPr>
        <p:spPr/>
        <p:txBody>
          <a:bodyPr/>
          <a:lstStyle/>
          <a:p>
            <a:r>
              <a:rPr lang="en-US" dirty="0" smtClean="0"/>
              <a:t>Review</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are Reviews?</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IEEE definition:</a:t>
            </a:r>
          </a:p>
          <a:p>
            <a:pPr algn="ctr">
              <a:buNone/>
            </a:pPr>
            <a:r>
              <a:rPr lang="en-GB" i="1" dirty="0" smtClean="0"/>
              <a:t>	“A process or meeting during which a work product, or set of work products, is presented to project personnel, managers, users, customers or other interested parties for comment or approval.”</a:t>
            </a:r>
          </a:p>
          <a:p>
            <a:r>
              <a:rPr lang="en-US" dirty="0" smtClean="0"/>
              <a:t>Another perspective</a:t>
            </a:r>
          </a:p>
          <a:p>
            <a:pPr algn="ctr">
              <a:buNone/>
            </a:pPr>
            <a:r>
              <a:rPr lang="en-GB" i="1" dirty="0" smtClean="0"/>
              <a:t>	“A structured encounter in which a group of technical personnel analyses or improves the quality of an original work product as well as the quality of the </a:t>
            </a:r>
            <a:r>
              <a:rPr lang="en-US" i="1" dirty="0" smtClean="0"/>
              <a:t>method.”</a:t>
            </a:r>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Bother, We Test Don’t We?</a:t>
            </a:r>
            <a:endParaRPr lang="en-US" dirty="0"/>
          </a:p>
        </p:txBody>
      </p:sp>
      <p:sp>
        <p:nvSpPr>
          <p:cNvPr id="3" name="Content Placeholder 2"/>
          <p:cNvSpPr>
            <a:spLocks noGrp="1"/>
          </p:cNvSpPr>
          <p:nvPr>
            <p:ph sz="quarter" idx="1"/>
          </p:nvPr>
        </p:nvSpPr>
        <p:spPr>
          <a:xfrm>
            <a:off x="612648" y="1600200"/>
            <a:ext cx="8153400" cy="5029200"/>
          </a:xfrm>
        </p:spPr>
        <p:txBody>
          <a:bodyPr>
            <a:normAutofit/>
          </a:bodyPr>
          <a:lstStyle/>
          <a:p>
            <a:r>
              <a:rPr lang="en-US" dirty="0" smtClean="0"/>
              <a:t>Reviews reduce rework</a:t>
            </a:r>
          </a:p>
          <a:p>
            <a:pPr lvl="1"/>
            <a:r>
              <a:rPr lang="en-GB" i="1" dirty="0" smtClean="0"/>
              <a:t>Rework accounts for 44% of development costs</a:t>
            </a:r>
          </a:p>
          <a:p>
            <a:pPr lvl="1"/>
            <a:r>
              <a:rPr lang="en-GB" i="1" dirty="0" smtClean="0"/>
              <a:t>Requirements 1%; design 12%; coding 12%; testing 19%</a:t>
            </a:r>
          </a:p>
          <a:p>
            <a:pPr lvl="1">
              <a:buNone/>
            </a:pPr>
            <a:endParaRPr lang="en-GB" i="1" dirty="0" smtClean="0"/>
          </a:p>
          <a:p>
            <a:r>
              <a:rPr lang="en-US" dirty="0" smtClean="0"/>
              <a:t>Improves schedule performance</a:t>
            </a:r>
          </a:p>
          <a:p>
            <a:r>
              <a:rPr lang="en-US" dirty="0" smtClean="0"/>
              <a:t>Reviews are pro-active tests</a:t>
            </a:r>
          </a:p>
          <a:p>
            <a:pPr lvl="1"/>
            <a:r>
              <a:rPr lang="en-GB" i="1" dirty="0" smtClean="0"/>
              <a:t>Find errors not possible through testing</a:t>
            </a:r>
          </a:p>
          <a:p>
            <a:r>
              <a:rPr lang="en-US" dirty="0" smtClean="0"/>
              <a:t>Reviews are training</a:t>
            </a:r>
          </a:p>
          <a:p>
            <a:pPr lvl="1"/>
            <a:r>
              <a:rPr lang="en-US" i="1" dirty="0" smtClean="0"/>
              <a:t>Domain; corporate standard; group</a:t>
            </a:r>
            <a:endParaRPr lang="en-US" dirty="0"/>
          </a:p>
        </p:txBody>
      </p:sp>
      <p:pic>
        <p:nvPicPr>
          <p:cNvPr id="3074" name="Picture 2"/>
          <p:cNvPicPr>
            <a:picLocks noChangeAspect="1" noChangeArrowheads="1"/>
          </p:cNvPicPr>
          <p:nvPr/>
        </p:nvPicPr>
        <p:blipFill>
          <a:blip r:embed="rId2"/>
          <a:srcRect/>
          <a:stretch>
            <a:fillRect/>
          </a:stretch>
        </p:blipFill>
        <p:spPr bwMode="auto">
          <a:xfrm>
            <a:off x="327446" y="3114675"/>
            <a:ext cx="8664154" cy="923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Reviews: Direct Objectives</a:t>
            </a:r>
            <a:endParaRPr lang="en-US" dirty="0"/>
          </a:p>
        </p:txBody>
      </p:sp>
      <p:sp>
        <p:nvSpPr>
          <p:cNvPr id="3" name="Content Placeholder 2"/>
          <p:cNvSpPr>
            <a:spLocks noGrp="1"/>
          </p:cNvSpPr>
          <p:nvPr>
            <p:ph sz="quarter" idx="1"/>
          </p:nvPr>
        </p:nvSpPr>
        <p:spPr/>
        <p:txBody>
          <a:bodyPr>
            <a:normAutofit fontScale="85000" lnSpcReduction="20000"/>
          </a:bodyPr>
          <a:lstStyle/>
          <a:p>
            <a:r>
              <a:rPr lang="en-GB" dirty="0" smtClean="0"/>
              <a:t>To detect analysis and design errors as well as subject where corrections, changes and completions are required with respect to the original specifications and approved changes</a:t>
            </a:r>
          </a:p>
          <a:p>
            <a:r>
              <a:rPr lang="en-GB" dirty="0" smtClean="0"/>
              <a:t>To identify new risks likely to affect completion of the project</a:t>
            </a:r>
          </a:p>
          <a:p>
            <a:r>
              <a:rPr lang="en-GB" dirty="0" smtClean="0"/>
              <a:t>To locate deviations from templates and style procedures and conventions; correction of these deviation is expected to contribute to improved communication and coordination resulting from greater uniformity of methods and </a:t>
            </a:r>
            <a:r>
              <a:rPr lang="en-US" dirty="0" smtClean="0"/>
              <a:t>documentation style</a:t>
            </a:r>
          </a:p>
          <a:p>
            <a:r>
              <a:rPr lang="en-GB" dirty="0" smtClean="0"/>
              <a:t>To approve the analysis or design product; approval allows the team to continue to the next development phase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Reviews: Indirect Objectives</a:t>
            </a:r>
            <a:endParaRPr lang="en-US" dirty="0"/>
          </a:p>
        </p:txBody>
      </p:sp>
      <p:sp>
        <p:nvSpPr>
          <p:cNvPr id="3" name="Content Placeholder 2"/>
          <p:cNvSpPr>
            <a:spLocks noGrp="1"/>
          </p:cNvSpPr>
          <p:nvPr>
            <p:ph sz="quarter" idx="1"/>
          </p:nvPr>
        </p:nvSpPr>
        <p:spPr/>
        <p:txBody>
          <a:bodyPr>
            <a:normAutofit/>
          </a:bodyPr>
          <a:lstStyle/>
          <a:p>
            <a:r>
              <a:rPr lang="en-GB" dirty="0" smtClean="0"/>
              <a:t>To provide an informal meeting place for exchange of professional knowledge about development methods, tools and techniques</a:t>
            </a:r>
          </a:p>
          <a:p>
            <a:r>
              <a:rPr lang="en-GB" dirty="0" smtClean="0"/>
              <a:t>To record analysis and design errors that will serve as a basis for future corrective actions; the corrective actions are expected to improve development methods by increasing effectiveness and quality, among other </a:t>
            </a:r>
            <a:r>
              <a:rPr lang="en-US" dirty="0" smtClean="0"/>
              <a:t>product features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Who Benefits?</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Technical reviews provide</a:t>
            </a:r>
          </a:p>
          <a:p>
            <a:pPr lvl="1"/>
            <a:r>
              <a:rPr lang="en-GB" i="1" dirty="0" smtClean="0"/>
              <a:t>Defect information to the author</a:t>
            </a:r>
          </a:p>
          <a:p>
            <a:pPr lvl="1"/>
            <a:r>
              <a:rPr lang="en-GB" i="1" dirty="0" smtClean="0"/>
              <a:t>Information on work product and development to </a:t>
            </a:r>
            <a:r>
              <a:rPr lang="en-US" i="1" dirty="0" smtClean="0"/>
              <a:t>peers</a:t>
            </a:r>
          </a:p>
          <a:p>
            <a:pPr lvl="1"/>
            <a:r>
              <a:rPr lang="en-GB" i="1" dirty="0" smtClean="0"/>
              <a:t>Fault likelihood data to testers</a:t>
            </a:r>
          </a:p>
          <a:p>
            <a:pPr lvl="1"/>
            <a:r>
              <a:rPr lang="en-US" i="1" dirty="0" smtClean="0"/>
              <a:t>Product status to management</a:t>
            </a:r>
          </a:p>
          <a:p>
            <a:pPr lvl="1"/>
            <a:r>
              <a:rPr lang="en-GB" i="1" dirty="0" smtClean="0"/>
              <a:t>Process status to software process improvement </a:t>
            </a:r>
            <a:r>
              <a:rPr lang="en-US" i="1" dirty="0" smtClean="0"/>
              <a:t>(SPI) group</a:t>
            </a:r>
          </a:p>
          <a:p>
            <a:r>
              <a:rPr lang="en-GB" dirty="0" smtClean="0"/>
              <a:t>Can be applied to </a:t>
            </a:r>
            <a:r>
              <a:rPr lang="en-GB" dirty="0" err="1" smtClean="0"/>
              <a:t>untestable</a:t>
            </a:r>
            <a:r>
              <a:rPr lang="en-GB" dirty="0" smtClean="0"/>
              <a:t> products</a:t>
            </a:r>
          </a:p>
          <a:p>
            <a:r>
              <a:rPr lang="en-US" dirty="0" smtClean="0"/>
              <a:t>Can be applied earlier</a:t>
            </a:r>
          </a:p>
          <a:p>
            <a:r>
              <a:rPr lang="en-GB" dirty="0" smtClean="0"/>
              <a:t>Complements (does not supplant) testing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Technical Review</a:t>
            </a:r>
            <a:endParaRPr lang="en-US" dirty="0"/>
          </a:p>
        </p:txBody>
      </p:sp>
      <p:sp>
        <p:nvSpPr>
          <p:cNvPr id="3" name="Content Placeholder 2"/>
          <p:cNvSpPr>
            <a:spLocks noGrp="1"/>
          </p:cNvSpPr>
          <p:nvPr>
            <p:ph sz="quarter" idx="1"/>
          </p:nvPr>
        </p:nvSpPr>
        <p:spPr/>
        <p:txBody>
          <a:bodyPr>
            <a:normAutofit fontScale="92500" lnSpcReduction="10000"/>
          </a:bodyPr>
          <a:lstStyle/>
          <a:p>
            <a:r>
              <a:rPr lang="en-GB" dirty="0" smtClean="0"/>
              <a:t>True formal reviews are a well-defined activity</a:t>
            </a:r>
          </a:p>
          <a:p>
            <a:r>
              <a:rPr lang="en-US" dirty="0" smtClean="0"/>
              <a:t>Well defined-process</a:t>
            </a:r>
          </a:p>
          <a:p>
            <a:pPr lvl="1"/>
            <a:r>
              <a:rPr lang="en-US" i="1" dirty="0" smtClean="0"/>
              <a:t>Phases: orientation, review, …</a:t>
            </a:r>
          </a:p>
          <a:p>
            <a:pPr lvl="1"/>
            <a:r>
              <a:rPr lang="en-US" i="1" dirty="0" smtClean="0"/>
              <a:t>Procedures: checklists, follow-up, …</a:t>
            </a:r>
          </a:p>
          <a:p>
            <a:r>
              <a:rPr lang="en-US" dirty="0" smtClean="0"/>
              <a:t>Well-defined roles</a:t>
            </a:r>
          </a:p>
          <a:p>
            <a:pPr lvl="1"/>
            <a:r>
              <a:rPr lang="en-US" i="1" dirty="0" smtClean="0"/>
              <a:t>Leader, designer, implementer, …</a:t>
            </a:r>
          </a:p>
          <a:p>
            <a:r>
              <a:rPr lang="en-US" dirty="0" smtClean="0"/>
              <a:t>Well-defined objectives</a:t>
            </a:r>
          </a:p>
          <a:p>
            <a:pPr lvl="1"/>
            <a:r>
              <a:rPr lang="en-US" i="1" dirty="0" smtClean="0"/>
              <a:t>Defect removal, requirements elicitation, …</a:t>
            </a:r>
          </a:p>
          <a:p>
            <a:r>
              <a:rPr lang="en-US" dirty="0" smtClean="0"/>
              <a:t>Well-defined metrics</a:t>
            </a:r>
          </a:p>
          <a:p>
            <a:pPr lvl="1"/>
            <a:r>
              <a:rPr lang="en-US" i="1" dirty="0" smtClean="0"/>
              <a:t>Forms, consistent data collection,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Formal Technical Reviews</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Reviews provide effective quality improvement</a:t>
            </a:r>
          </a:p>
          <a:p>
            <a:r>
              <a:rPr lang="en-GB" dirty="0" smtClean="0"/>
              <a:t>Reviews can find 60–100% of all defects</a:t>
            </a:r>
          </a:p>
          <a:p>
            <a:r>
              <a:rPr lang="en-GB" dirty="0" smtClean="0"/>
              <a:t>Reviews are technical not management</a:t>
            </a:r>
          </a:p>
          <a:p>
            <a:r>
              <a:rPr lang="en-GB" dirty="0" smtClean="0"/>
              <a:t>Review data can assess/improve quality of</a:t>
            </a:r>
          </a:p>
          <a:p>
            <a:pPr lvl="1"/>
            <a:r>
              <a:rPr lang="en-US" i="1" dirty="0" smtClean="0"/>
              <a:t>Work product</a:t>
            </a:r>
          </a:p>
          <a:p>
            <a:pPr lvl="1"/>
            <a:r>
              <a:rPr lang="en-US" i="1" dirty="0" smtClean="0"/>
              <a:t>Software development process</a:t>
            </a:r>
          </a:p>
          <a:p>
            <a:pPr lvl="1"/>
            <a:r>
              <a:rPr lang="en-US" i="1" dirty="0" smtClean="0"/>
              <a:t>Review procedures</a:t>
            </a:r>
          </a:p>
          <a:p>
            <a:r>
              <a:rPr lang="en-GB" dirty="0" smtClean="0"/>
              <a:t>Reviews reduce total project cost but have non-trivial cost </a:t>
            </a:r>
            <a:r>
              <a:rPr lang="en-US" dirty="0" smtClean="0"/>
              <a:t>(~15%)</a:t>
            </a:r>
          </a:p>
          <a:p>
            <a:r>
              <a:rPr lang="en-GB" dirty="0" smtClean="0"/>
              <a:t>Upstream defect removal is 10–100 times cheaper</a:t>
            </a:r>
          </a:p>
          <a:p>
            <a:r>
              <a:rPr lang="en-GB" dirty="0" smtClean="0"/>
              <a:t>Reviews disseminate domain knowledge, development skills and </a:t>
            </a:r>
            <a:r>
              <a:rPr lang="en-US" dirty="0" smtClean="0"/>
              <a:t>corporate culture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Who, What and When</a:t>
            </a:r>
            <a:endParaRPr lang="en-US" dirty="0"/>
          </a:p>
        </p:txBody>
      </p:sp>
      <p:sp>
        <p:nvSpPr>
          <p:cNvPr id="3" name="Content Placeholder 2"/>
          <p:cNvSpPr>
            <a:spLocks noGrp="1"/>
          </p:cNvSpPr>
          <p:nvPr>
            <p:ph sz="quarter" idx="1"/>
          </p:nvPr>
        </p:nvSpPr>
        <p:spPr/>
        <p:txBody>
          <a:bodyPr>
            <a:normAutofit/>
          </a:bodyPr>
          <a:lstStyle/>
          <a:p>
            <a:r>
              <a:rPr lang="en-GB" dirty="0" smtClean="0"/>
              <a:t>Who decides what should be reviewed?</a:t>
            </a:r>
          </a:p>
          <a:p>
            <a:pPr lvl="1"/>
            <a:r>
              <a:rPr lang="en-US" i="1" dirty="0" smtClean="0"/>
              <a:t>Senior technical personnel</a:t>
            </a:r>
          </a:p>
          <a:p>
            <a:pPr lvl="1"/>
            <a:r>
              <a:rPr lang="en-US" i="1" dirty="0" smtClean="0"/>
              <a:t>Project leader</a:t>
            </a:r>
          </a:p>
          <a:p>
            <a:r>
              <a:rPr lang="en-US" dirty="0" smtClean="0"/>
              <a:t>What should be reviewed?</a:t>
            </a:r>
          </a:p>
          <a:p>
            <a:pPr lvl="1"/>
            <a:r>
              <a:rPr lang="en-GB" i="1" dirty="0" smtClean="0"/>
              <a:t>Work products with high impact upon project risks</a:t>
            </a:r>
          </a:p>
          <a:p>
            <a:pPr lvl="1"/>
            <a:r>
              <a:rPr lang="en-GB" i="1" dirty="0" smtClean="0"/>
              <a:t>Work products directly related to quality objectives</a:t>
            </a:r>
          </a:p>
          <a:p>
            <a:r>
              <a:rPr lang="en-GB" dirty="0" smtClean="0"/>
              <a:t>When should reviews be planned?</a:t>
            </a:r>
          </a:p>
          <a:p>
            <a:pPr lvl="1"/>
            <a:r>
              <a:rPr lang="en-GB" i="1" dirty="0" smtClean="0"/>
              <a:t>Specify review method and target work products in </a:t>
            </a:r>
            <a:r>
              <a:rPr lang="en-US" i="1" dirty="0" smtClean="0"/>
              <a:t>software development plan/quality plan</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Industry Experience with Formal Technical Reviews</a:t>
            </a:r>
            <a:endParaRPr lang="en-US" dirty="0"/>
          </a:p>
        </p:txBody>
      </p:sp>
      <p:sp>
        <p:nvSpPr>
          <p:cNvPr id="3" name="Content Placeholder 2"/>
          <p:cNvSpPr>
            <a:spLocks noGrp="1"/>
          </p:cNvSpPr>
          <p:nvPr>
            <p:ph sz="quarter" idx="1"/>
          </p:nvPr>
        </p:nvSpPr>
        <p:spPr/>
        <p:txBody>
          <a:bodyPr>
            <a:normAutofit/>
          </a:bodyPr>
          <a:lstStyle/>
          <a:p>
            <a:r>
              <a:rPr lang="en-US" dirty="0" smtClean="0"/>
              <a:t>Aetna Insurance Company</a:t>
            </a:r>
          </a:p>
          <a:p>
            <a:pPr lvl="1"/>
            <a:r>
              <a:rPr lang="en-GB" i="1" dirty="0" smtClean="0"/>
              <a:t>Reviews found 82% of errors</a:t>
            </a:r>
          </a:p>
          <a:p>
            <a:pPr lvl="1"/>
            <a:r>
              <a:rPr lang="en-US" i="1" dirty="0" smtClean="0"/>
              <a:t>25% cost reduction</a:t>
            </a:r>
          </a:p>
          <a:p>
            <a:r>
              <a:rPr lang="en-US" dirty="0" smtClean="0"/>
              <a:t>Bell-Northern Research</a:t>
            </a:r>
          </a:p>
          <a:p>
            <a:pPr lvl="1"/>
            <a:r>
              <a:rPr lang="en-US" i="1" dirty="0" smtClean="0"/>
              <a:t>Inspection cost: 1 hr/defect</a:t>
            </a:r>
          </a:p>
          <a:p>
            <a:pPr lvl="1"/>
            <a:r>
              <a:rPr lang="en-US" i="1" dirty="0" smtClean="0"/>
              <a:t>Testing cost: 2–4 hr/defect</a:t>
            </a:r>
          </a:p>
          <a:p>
            <a:pPr lvl="1"/>
            <a:r>
              <a:rPr lang="en-US" i="1" dirty="0" smtClean="0"/>
              <a:t>Post-release cost: 33 hr/defect</a:t>
            </a:r>
          </a:p>
          <a:p>
            <a:r>
              <a:rPr lang="en-US" dirty="0" smtClean="0"/>
              <a:t>Hewlett-Packard</a:t>
            </a:r>
          </a:p>
          <a:p>
            <a:pPr lvl="1"/>
            <a:r>
              <a:rPr lang="en-GB" i="1" dirty="0" smtClean="0"/>
              <a:t>Est. inspection savings (1993): $21.5m</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Methodology Taxonomy</a:t>
            </a:r>
            <a:endParaRPr lang="en-US" dirty="0"/>
          </a:p>
        </p:txBody>
      </p:sp>
      <p:sp>
        <p:nvSpPr>
          <p:cNvPr id="3" name="Content Placeholder 2"/>
          <p:cNvSpPr>
            <a:spLocks noGrp="1"/>
          </p:cNvSpPr>
          <p:nvPr>
            <p:ph sz="quarter"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304800" y="1600200"/>
            <a:ext cx="8702359" cy="50292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Families of Review Methods</a:t>
            </a:r>
            <a:endParaRPr lang="en-US" dirty="0"/>
          </a:p>
        </p:txBody>
      </p:sp>
      <p:sp>
        <p:nvSpPr>
          <p:cNvPr id="3" name="Content Placeholder 2"/>
          <p:cNvSpPr>
            <a:spLocks noGrp="1"/>
          </p:cNvSpPr>
          <p:nvPr>
            <p:ph sz="quarter"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9525" y="1600200"/>
            <a:ext cx="9124950" cy="482917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371600" y="2743200"/>
            <a:ext cx="7123113" cy="3581400"/>
          </a:xfrm>
        </p:spPr>
        <p:txBody>
          <a:bodyPr>
            <a:normAutofit fontScale="92500" lnSpcReduction="10000"/>
          </a:bodyPr>
          <a:lstStyle/>
          <a:p>
            <a:pPr>
              <a:buClr>
                <a:schemeClr val="bg1"/>
              </a:buClr>
              <a:buFont typeface="Wingdings" pitchFamily="2" charset="2"/>
              <a:buChar char="q"/>
            </a:pPr>
            <a:r>
              <a:rPr lang="en-GB" dirty="0" smtClean="0">
                <a:solidFill>
                  <a:schemeClr val="bg1"/>
                </a:solidFill>
              </a:rPr>
              <a:t>Software Inspection-started in 1972</a:t>
            </a:r>
          </a:p>
          <a:p>
            <a:pPr>
              <a:buClr>
                <a:schemeClr val="bg1"/>
              </a:buClr>
              <a:buFont typeface="Wingdings" pitchFamily="2" charset="2"/>
              <a:buChar char="q"/>
            </a:pPr>
            <a:r>
              <a:rPr lang="en-GB" dirty="0" smtClean="0">
                <a:solidFill>
                  <a:schemeClr val="bg1"/>
                </a:solidFill>
              </a:rPr>
              <a:t>Inspection means formal verification of the work product.</a:t>
            </a:r>
          </a:p>
          <a:p>
            <a:pPr>
              <a:buClr>
                <a:schemeClr val="bg1"/>
              </a:buClr>
              <a:buFont typeface="Wingdings" pitchFamily="2" charset="2"/>
              <a:buChar char="q"/>
            </a:pPr>
            <a:r>
              <a:rPr lang="en-GB" dirty="0" smtClean="0">
                <a:solidFill>
                  <a:schemeClr val="bg1"/>
                </a:solidFill>
              </a:rPr>
              <a:t>Step-by-step peer group review of a work product, with each step checked </a:t>
            </a:r>
            <a:r>
              <a:rPr lang="en-US" dirty="0" smtClean="0">
                <a:solidFill>
                  <a:schemeClr val="bg1"/>
                </a:solidFill>
              </a:rPr>
              <a:t>against predetermined criteria.</a:t>
            </a:r>
          </a:p>
          <a:p>
            <a:pPr>
              <a:buClr>
                <a:schemeClr val="bg1"/>
              </a:buClr>
              <a:buFont typeface="Wingdings" pitchFamily="2" charset="2"/>
              <a:buChar char="q"/>
            </a:pPr>
            <a:r>
              <a:rPr lang="en-GB" dirty="0" smtClean="0">
                <a:solidFill>
                  <a:schemeClr val="bg1"/>
                </a:solidFill>
              </a:rPr>
              <a:t>An inspection might also be referred to as a </a:t>
            </a:r>
            <a:r>
              <a:rPr lang="en-GB" dirty="0" smtClean="0">
                <a:solidFill>
                  <a:schemeClr val="accent2"/>
                </a:solidFill>
              </a:rPr>
              <a:t>Fagan inspection </a:t>
            </a:r>
            <a:r>
              <a:rPr lang="en-GB" dirty="0" smtClean="0">
                <a:solidFill>
                  <a:schemeClr val="bg1"/>
                </a:solidFill>
              </a:rPr>
              <a:t>after Michael Fagan, the creator of a very popular software inspection process.</a:t>
            </a:r>
            <a:endParaRPr lang="en-US" dirty="0">
              <a:solidFill>
                <a:schemeClr val="bg1"/>
              </a:solidFill>
            </a:endParaRPr>
          </a:p>
        </p:txBody>
      </p:sp>
      <p:sp>
        <p:nvSpPr>
          <p:cNvPr id="3" name="Title 2"/>
          <p:cNvSpPr>
            <a:spLocks noGrp="1"/>
          </p:cNvSpPr>
          <p:nvPr>
            <p:ph type="title"/>
          </p:nvPr>
        </p:nvSpPr>
        <p:spPr/>
        <p:txBody>
          <a:bodyPr/>
          <a:lstStyle/>
          <a:p>
            <a:r>
              <a:rPr lang="en-US" dirty="0" smtClean="0"/>
              <a:t>Software Inspection</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Inspections</a:t>
            </a:r>
            <a:endParaRPr lang="en-US" dirty="0"/>
          </a:p>
        </p:txBody>
      </p:sp>
      <p:sp>
        <p:nvSpPr>
          <p:cNvPr id="3" name="Content Placeholder 2"/>
          <p:cNvSpPr>
            <a:spLocks noGrp="1"/>
          </p:cNvSpPr>
          <p:nvPr>
            <p:ph sz="quarter" idx="1"/>
          </p:nvPr>
        </p:nvSpPr>
        <p:spPr/>
        <p:txBody>
          <a:bodyPr>
            <a:normAutofit fontScale="92500" lnSpcReduction="10000"/>
          </a:bodyPr>
          <a:lstStyle/>
          <a:p>
            <a:r>
              <a:rPr lang="en-GB" dirty="0" smtClean="0"/>
              <a:t>Software inspections are considered a best industry practice for detecting software defects early and learning about software </a:t>
            </a:r>
            <a:r>
              <a:rPr lang="en-GB" dirty="0" err="1" smtClean="0"/>
              <a:t>artifacts</a:t>
            </a:r>
            <a:r>
              <a:rPr lang="en-GB" dirty="0" smtClean="0"/>
              <a:t>.</a:t>
            </a:r>
          </a:p>
          <a:p>
            <a:r>
              <a:rPr lang="en-US" dirty="0" smtClean="0"/>
              <a:t>Software inspections </a:t>
            </a:r>
            <a:r>
              <a:rPr lang="en-GB" dirty="0" smtClean="0"/>
              <a:t>are peer reviews and are integral to software product engineering </a:t>
            </a:r>
            <a:r>
              <a:rPr lang="en-US" dirty="0" smtClean="0"/>
              <a:t>activities.</a:t>
            </a:r>
          </a:p>
          <a:p>
            <a:r>
              <a:rPr lang="en-US" dirty="0" smtClean="0"/>
              <a:t>Software inspections are the </a:t>
            </a:r>
            <a:r>
              <a:rPr lang="en-GB" dirty="0" smtClean="0"/>
              <a:t>most rigorous form of peer reviews and fully utilize the elements of practice in detecting defects. These elements include the structured review process, standard of excellence product checklists, defined roles of participants, and the forms and </a:t>
            </a:r>
            <a:r>
              <a:rPr lang="en-US" dirty="0" smtClean="0"/>
              <a:t>reports.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Inspections</a:t>
            </a:r>
            <a:endParaRPr lang="en-US" dirty="0"/>
          </a:p>
        </p:txBody>
      </p:sp>
      <p:sp>
        <p:nvSpPr>
          <p:cNvPr id="3" name="Content Placeholder 2"/>
          <p:cNvSpPr>
            <a:spLocks noGrp="1"/>
          </p:cNvSpPr>
          <p:nvPr>
            <p:ph sz="quarter" idx="1"/>
          </p:nvPr>
        </p:nvSpPr>
        <p:spPr/>
        <p:txBody>
          <a:bodyPr/>
          <a:lstStyle/>
          <a:p>
            <a:r>
              <a:rPr lang="en-GB" dirty="0" smtClean="0"/>
              <a:t>Software inspections provide value by improving reliability, availability, and </a:t>
            </a:r>
            <a:r>
              <a:rPr lang="en-US" dirty="0" smtClean="0"/>
              <a:t>maintainability.</a:t>
            </a:r>
          </a:p>
          <a:p>
            <a:r>
              <a:rPr lang="en-GB" dirty="0" smtClean="0"/>
              <a:t>Software inspections are known to add economic value in detecting and correcting defects early at greatly reduced cost.</a:t>
            </a:r>
          </a:p>
          <a:p>
            <a:r>
              <a:rPr lang="en-GB" dirty="0" smtClean="0"/>
              <a:t>IBM reported an 83% defect detection rate resulting from software inspections </a:t>
            </a:r>
            <a:r>
              <a:rPr lang="en-US" dirty="0" smtClean="0"/>
              <a:t>practice; AT&amp;T Corp., 92%</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Inspections?</a:t>
            </a:r>
            <a:endParaRPr lang="en-US" dirty="0"/>
          </a:p>
        </p:txBody>
      </p:sp>
      <p:sp>
        <p:nvSpPr>
          <p:cNvPr id="3" name="Content Placeholder 2"/>
          <p:cNvSpPr>
            <a:spLocks noGrp="1"/>
          </p:cNvSpPr>
          <p:nvPr>
            <p:ph sz="quarter" idx="1"/>
          </p:nvPr>
        </p:nvSpPr>
        <p:spPr>
          <a:xfrm>
            <a:off x="612648" y="1600200"/>
            <a:ext cx="8153400" cy="4953000"/>
          </a:xfrm>
        </p:spPr>
        <p:txBody>
          <a:bodyPr>
            <a:normAutofit fontScale="92500" lnSpcReduction="20000"/>
          </a:bodyPr>
          <a:lstStyle/>
          <a:p>
            <a:r>
              <a:rPr lang="en-GB" dirty="0" smtClean="0"/>
              <a:t>A manager or programmer never purposely wanted to deliver a product late, over cost, or of poor quality. Yet projects continue to ship late, with less function than committed, at higher costs, and with questionable quality. </a:t>
            </a:r>
          </a:p>
          <a:p>
            <a:r>
              <a:rPr lang="en-GB" dirty="0" smtClean="0"/>
              <a:t>There are a number of factors that lead to these undesirable project results, but a major contributor is the lack of defect removal controls. Defects are created or injected into work products throughout the project life cycle. This seems to be an unfortunate fact of software development. It can be difficult and expensive to remove the defects in test, and when customers find defects the costs can increase by a factor of 100 or more.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Why Inspections?</a:t>
            </a:r>
            <a:endParaRPr lang="en-US" dirty="0"/>
          </a:p>
        </p:txBody>
      </p:sp>
      <p:sp>
        <p:nvSpPr>
          <p:cNvPr id="3" name="Content Placeholder 2"/>
          <p:cNvSpPr>
            <a:spLocks noGrp="1"/>
          </p:cNvSpPr>
          <p:nvPr>
            <p:ph sz="quarter" idx="1"/>
          </p:nvPr>
        </p:nvSpPr>
        <p:spPr/>
        <p:txBody>
          <a:bodyPr>
            <a:normAutofit/>
          </a:bodyPr>
          <a:lstStyle/>
          <a:p>
            <a:r>
              <a:rPr lang="en-GB" dirty="0" smtClean="0"/>
              <a:t>We need Inspections to remove software defects at reduced cost. Inspections enable us to remove defects early in the software life cycle, and it is always cheaper to remove defects earlier than later in the software life cycle. </a:t>
            </a:r>
          </a:p>
          <a:p>
            <a:r>
              <a:rPr lang="en-GB" dirty="0" smtClean="0"/>
              <a:t>It is important to note that Inspections are a way to remove defects at a lower cost, not a way to prevent defects from occurring.</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657225" y="30758"/>
            <a:ext cx="7648575" cy="4160242"/>
          </a:xfrm>
          <a:prstGeom prst="rect">
            <a:avLst/>
          </a:prstGeom>
          <a:noFill/>
          <a:ln w="9525">
            <a:noFill/>
            <a:miter lim="800000"/>
            <a:headEnd/>
            <a:tailEnd/>
          </a:ln>
          <a:effectLst/>
        </p:spPr>
      </p:pic>
      <p:sp>
        <p:nvSpPr>
          <p:cNvPr id="3" name="TextBox 2"/>
          <p:cNvSpPr txBox="1"/>
          <p:nvPr/>
        </p:nvSpPr>
        <p:spPr>
          <a:xfrm>
            <a:off x="2286000" y="3962400"/>
            <a:ext cx="4841197" cy="338554"/>
          </a:xfrm>
          <a:prstGeom prst="rect">
            <a:avLst/>
          </a:prstGeom>
          <a:noFill/>
        </p:spPr>
        <p:txBody>
          <a:bodyPr wrap="none" rtlCol="0">
            <a:spAutoFit/>
          </a:bodyPr>
          <a:lstStyle/>
          <a:p>
            <a:r>
              <a:rPr lang="en-GB" sz="1600" b="1" dirty="0" smtClean="0">
                <a:solidFill>
                  <a:schemeClr val="accent1">
                    <a:lumMod val="50000"/>
                  </a:schemeClr>
                </a:solidFill>
              </a:rPr>
              <a:t>Example of Defect Injection and Defect Removal Curve</a:t>
            </a:r>
            <a:endParaRPr lang="en-US" sz="1600" b="1" dirty="0">
              <a:solidFill>
                <a:schemeClr val="accent1">
                  <a:lumMod val="50000"/>
                </a:schemeClr>
              </a:solidFill>
            </a:endParaRPr>
          </a:p>
        </p:txBody>
      </p:sp>
      <p:sp>
        <p:nvSpPr>
          <p:cNvPr id="4" name="Content Placeholder 2"/>
          <p:cNvSpPr txBox="1">
            <a:spLocks/>
          </p:cNvSpPr>
          <p:nvPr/>
        </p:nvSpPr>
        <p:spPr>
          <a:xfrm>
            <a:off x="76200" y="4343400"/>
            <a:ext cx="8991600" cy="2438400"/>
          </a:xfrm>
          <a:prstGeom prst="rect">
            <a:avLst/>
          </a:prstGeom>
        </p:spPr>
        <p:txBody>
          <a:bodyPr>
            <a:normAutofit/>
          </a:bodyPr>
          <a:lstStyle/>
          <a:p>
            <a:pPr marL="320040" marR="0" lvl="0" indent="-320040" algn="l" defTabSz="914400" rtl="0" eaLnBrk="1" fontAlgn="auto" latinLnBrk="0" hangingPunct="1">
              <a:lnSpc>
                <a:spcPct val="100000"/>
              </a:lnSpc>
              <a:spcBef>
                <a:spcPts val="700"/>
              </a:spcBef>
              <a:spcAft>
                <a:spcPts val="0"/>
              </a:spcAft>
              <a:buClr>
                <a:schemeClr val="accent2"/>
              </a:buClr>
              <a:buSzPct val="60000"/>
              <a:tabLst/>
              <a:defRPr/>
            </a:pPr>
            <a:r>
              <a:rPr kumimoji="0" lang="en-GB" sz="2000" b="0" i="0" u="none" strike="noStrike" kern="1200" cap="none" spc="0" normalizeH="0" baseline="0" noProof="0" dirty="0" smtClean="0">
                <a:ln>
                  <a:noFill/>
                </a:ln>
                <a:solidFill>
                  <a:schemeClr val="tx1"/>
                </a:solidFill>
                <a:effectLst/>
                <a:uLnTx/>
                <a:uFillTx/>
                <a:latin typeface="+mn-lt"/>
                <a:ea typeface="+mn-ea"/>
                <a:cs typeface="+mn-cs"/>
              </a:rPr>
              <a:t>	The curve A from START to CODE represents the numbers of defects that were created or entered into the production processes during requirements analysis (REQ), High-level design (HLD), Low-level design (LLD), and Code in a software project. Curve A shows no pre-test defect removal activities. Consequently each test activity; e.g., (Unit Test (UT), Integration Test (IT), and System Test (ST)), as shown in curve B, finds and removes varying volumes of the generated or injected defects.</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92500" lnSpcReduction="20000"/>
          </a:bodyPr>
          <a:lstStyle/>
          <a:p>
            <a:r>
              <a:rPr lang="en-GB" dirty="0" smtClean="0"/>
              <a:t>In this example let’s assume that each test removes 50% of the defects present at entry to the test; e.g., UT, IT, ST. In a well-defined, well-behaved series of tests, we would expect that the number of defects removed would decline in each subsequent test activity. While this is a simplistic view, evidence to the contrary would suggest a quality problem for the product under test. </a:t>
            </a:r>
          </a:p>
          <a:p>
            <a:r>
              <a:rPr lang="en-GB" dirty="0" smtClean="0"/>
              <a:t>In this example we will make the assumption that the tests are well behaved. The gap that remains at the end of system test (ST) represents latent defects that have the potential to be found by the users. Latent defects are defects remaining in the software product delivered to the customer at SHIP.</a:t>
            </a:r>
            <a:endParaRPr lang="en-US" dirty="0"/>
          </a:p>
        </p:txBody>
      </p:sp>
      <p:sp>
        <p:nvSpPr>
          <p:cNvPr id="4" name="Title 1"/>
          <p:cNvSpPr>
            <a:spLocks noGrp="1"/>
          </p:cNvSpPr>
          <p:nvPr>
            <p:ph type="title"/>
          </p:nvPr>
        </p:nvSpPr>
        <p:spPr>
          <a:xfrm>
            <a:off x="612648" y="228600"/>
            <a:ext cx="8153400" cy="990600"/>
          </a:xfrm>
        </p:spPr>
        <p:txBody>
          <a:bodyPr/>
          <a:lstStyle/>
          <a:p>
            <a:r>
              <a:rPr lang="en-US" smtClean="0"/>
              <a:t>Graph-Example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 of Inspection</a:t>
            </a:r>
            <a:endParaRPr lang="en-US" dirty="0"/>
          </a:p>
        </p:txBody>
      </p:sp>
      <p:sp>
        <p:nvSpPr>
          <p:cNvPr id="3" name="Content Placeholder 2"/>
          <p:cNvSpPr>
            <a:spLocks noGrp="1"/>
          </p:cNvSpPr>
          <p:nvPr>
            <p:ph sz="quarter" idx="1"/>
          </p:nvPr>
        </p:nvSpPr>
        <p:spPr/>
        <p:txBody>
          <a:bodyPr/>
          <a:lstStyle/>
          <a:p>
            <a:r>
              <a:rPr lang="en-GB" dirty="0" smtClean="0"/>
              <a:t>Our objective with Inspections is to reduce the Cost of Quality by finding and removing defects earlier and at a lower cost.</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371600" y="2743200"/>
            <a:ext cx="7123113" cy="3581400"/>
          </a:xfrm>
        </p:spPr>
        <p:txBody>
          <a:bodyPr>
            <a:normAutofit/>
          </a:bodyPr>
          <a:lstStyle/>
          <a:p>
            <a:pPr>
              <a:buClr>
                <a:schemeClr val="bg1"/>
              </a:buClr>
              <a:buFont typeface="Wingdings" pitchFamily="2" charset="2"/>
              <a:buChar char="q"/>
            </a:pPr>
            <a:r>
              <a:rPr lang="en-GB" dirty="0" smtClean="0">
                <a:solidFill>
                  <a:schemeClr val="bg1"/>
                </a:solidFill>
              </a:rPr>
              <a:t>The inspection process was developed by Michael Fagan in the mid-1970s and it has later been extended and modified.</a:t>
            </a:r>
            <a:endParaRPr lang="en-US" sz="2600" dirty="0">
              <a:solidFill>
                <a:schemeClr val="bg1"/>
              </a:solidFill>
            </a:endParaRPr>
          </a:p>
        </p:txBody>
      </p:sp>
      <p:sp>
        <p:nvSpPr>
          <p:cNvPr id="3" name="Title 2"/>
          <p:cNvSpPr>
            <a:spLocks noGrp="1"/>
          </p:cNvSpPr>
          <p:nvPr>
            <p:ph type="title"/>
          </p:nvPr>
        </p:nvSpPr>
        <p:spPr/>
        <p:txBody>
          <a:bodyPr/>
          <a:lstStyle/>
          <a:p>
            <a:r>
              <a:rPr lang="en-US" dirty="0" smtClean="0"/>
              <a:t>Software Inspection Process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Inspection Process</a:t>
            </a:r>
            <a:endParaRPr lang="en-US" dirty="0"/>
          </a:p>
        </p:txBody>
      </p:sp>
      <p:sp>
        <p:nvSpPr>
          <p:cNvPr id="3" name="Content Placeholder 2"/>
          <p:cNvSpPr>
            <a:spLocks noGrp="1"/>
          </p:cNvSpPr>
          <p:nvPr>
            <p:ph sz="quarter" idx="1"/>
          </p:nvPr>
        </p:nvSpPr>
        <p:spPr/>
        <p:txBody>
          <a:bodyPr>
            <a:normAutofit/>
          </a:bodyPr>
          <a:lstStyle/>
          <a:p>
            <a:r>
              <a:rPr lang="en-GB" dirty="0" smtClean="0"/>
              <a:t>The process should have entry criteria that determine if the inspection process is ready to begin. This prevents unfinished work products from entering the inspection process. The entry criteria might be a checklist including items such as "The document has been spell-checked".</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537448" cy="990600"/>
          </a:xfrm>
        </p:spPr>
        <p:txBody>
          <a:bodyPr>
            <a:normAutofit/>
          </a:bodyPr>
          <a:lstStyle/>
          <a:p>
            <a:r>
              <a:rPr lang="en-US" dirty="0" smtClean="0"/>
              <a:t>Stages in Software Inspection Process</a:t>
            </a:r>
            <a:endParaRPr lang="en-US" dirty="0"/>
          </a:p>
        </p:txBody>
      </p:sp>
      <p:sp>
        <p:nvSpPr>
          <p:cNvPr id="3" name="Content Placeholder 2"/>
          <p:cNvSpPr>
            <a:spLocks noGrp="1"/>
          </p:cNvSpPr>
          <p:nvPr>
            <p:ph sz="quarter" idx="1"/>
          </p:nvPr>
        </p:nvSpPr>
        <p:spPr/>
        <p:txBody>
          <a:bodyPr/>
          <a:lstStyle/>
          <a:p>
            <a:r>
              <a:rPr lang="en-GB" dirty="0" smtClean="0"/>
              <a:t>The stages in the inspections process are: </a:t>
            </a:r>
          </a:p>
          <a:p>
            <a:pPr lvl="1"/>
            <a:r>
              <a:rPr lang="en-GB" dirty="0" smtClean="0"/>
              <a:t>Planning</a:t>
            </a:r>
          </a:p>
          <a:p>
            <a:pPr lvl="1"/>
            <a:r>
              <a:rPr lang="en-GB" dirty="0" smtClean="0"/>
              <a:t>Overview meeting</a:t>
            </a:r>
          </a:p>
          <a:p>
            <a:pPr lvl="1"/>
            <a:r>
              <a:rPr lang="en-GB" dirty="0" smtClean="0"/>
              <a:t>Preparation</a:t>
            </a:r>
          </a:p>
          <a:p>
            <a:pPr lvl="1"/>
            <a:r>
              <a:rPr lang="en-GB" dirty="0" smtClean="0"/>
              <a:t>Inspection meeting</a:t>
            </a:r>
          </a:p>
          <a:p>
            <a:pPr lvl="1"/>
            <a:r>
              <a:rPr lang="en-GB" dirty="0" smtClean="0"/>
              <a:t>Rework</a:t>
            </a:r>
          </a:p>
          <a:p>
            <a:pPr lvl="1"/>
            <a:r>
              <a:rPr lang="en-GB" dirty="0" smtClean="0"/>
              <a:t>Follow-up. </a:t>
            </a:r>
          </a:p>
          <a:p>
            <a:r>
              <a:rPr lang="en-GB" dirty="0" smtClean="0"/>
              <a:t>The Preparation, Inspection meeting and Rework stages might be iterated.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1352" cy="990600"/>
          </a:xfrm>
        </p:spPr>
        <p:txBody>
          <a:bodyPr>
            <a:normAutofit/>
          </a:bodyPr>
          <a:lstStyle/>
          <a:p>
            <a:r>
              <a:rPr lang="en-US" dirty="0" smtClean="0"/>
              <a:t>Stages in Software Inspection Process</a:t>
            </a:r>
            <a:endParaRPr lang="en-US" dirty="0"/>
          </a:p>
        </p:txBody>
      </p:sp>
      <p:sp>
        <p:nvSpPr>
          <p:cNvPr id="3" name="Content Placeholder 2"/>
          <p:cNvSpPr>
            <a:spLocks noGrp="1"/>
          </p:cNvSpPr>
          <p:nvPr>
            <p:ph sz="quarter" idx="1"/>
          </p:nvPr>
        </p:nvSpPr>
        <p:spPr>
          <a:xfrm>
            <a:off x="457200" y="1600200"/>
            <a:ext cx="8308848" cy="4800600"/>
          </a:xfrm>
        </p:spPr>
        <p:txBody>
          <a:bodyPr>
            <a:normAutofit fontScale="77500" lnSpcReduction="20000"/>
          </a:bodyPr>
          <a:lstStyle/>
          <a:p>
            <a:r>
              <a:rPr lang="en-GB" sz="3000" b="1" dirty="0" smtClean="0"/>
              <a:t>Planning:</a:t>
            </a:r>
            <a:r>
              <a:rPr lang="en-GB" sz="3000" dirty="0" smtClean="0"/>
              <a:t> The inspection is planned by the moderator.</a:t>
            </a:r>
          </a:p>
          <a:p>
            <a:r>
              <a:rPr lang="en-GB" sz="3000" b="1" dirty="0" smtClean="0"/>
              <a:t>Overview meeting:</a:t>
            </a:r>
            <a:r>
              <a:rPr lang="en-GB" sz="3000" dirty="0" smtClean="0"/>
              <a:t> The author describes the background of the work product.</a:t>
            </a:r>
          </a:p>
          <a:p>
            <a:r>
              <a:rPr lang="en-GB" sz="3000" b="1" dirty="0" smtClean="0"/>
              <a:t>Preparation:</a:t>
            </a:r>
            <a:r>
              <a:rPr lang="en-GB" sz="3000" dirty="0" smtClean="0"/>
              <a:t> Each inspector examines the work product to identify possible defects.</a:t>
            </a:r>
          </a:p>
          <a:p>
            <a:r>
              <a:rPr lang="en-GB" sz="3000" b="1" dirty="0" smtClean="0"/>
              <a:t>Inspection meeting:</a:t>
            </a:r>
            <a:r>
              <a:rPr lang="en-GB" sz="3000" dirty="0" smtClean="0"/>
              <a:t> During this meeting the reader reads through the work product, part by part and the inspectors point out the defects for every part.</a:t>
            </a:r>
          </a:p>
          <a:p>
            <a:r>
              <a:rPr lang="en-GB" sz="3000" b="1" dirty="0" smtClean="0"/>
              <a:t>Rework:</a:t>
            </a:r>
            <a:r>
              <a:rPr lang="en-GB" sz="3000" dirty="0" smtClean="0"/>
              <a:t> The author makes changes to the work product according to the action plans from the inspection meeting.</a:t>
            </a:r>
          </a:p>
          <a:p>
            <a:r>
              <a:rPr lang="en-GB" sz="3000" b="1" dirty="0" smtClean="0"/>
              <a:t>Follow-up:</a:t>
            </a:r>
            <a:r>
              <a:rPr lang="en-GB" sz="3000" dirty="0" smtClean="0"/>
              <a:t> The changes by the author are checked to make sure everything is correct.</a:t>
            </a:r>
          </a:p>
          <a:p>
            <a:r>
              <a:rPr lang="en-GB" sz="3000" dirty="0" smtClean="0"/>
              <a:t>The process is ended by the moderator when it satisfies some predefined exit criteria.</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p:cNvGrpSpPr/>
          <p:nvPr/>
        </p:nvGrpSpPr>
        <p:grpSpPr>
          <a:xfrm>
            <a:off x="1905000" y="1828800"/>
            <a:ext cx="5257800" cy="4572000"/>
            <a:chOff x="1905000" y="1828800"/>
            <a:chExt cx="5257800" cy="4572000"/>
          </a:xfrm>
        </p:grpSpPr>
        <p:sp>
          <p:nvSpPr>
            <p:cNvPr id="14" name="Rectangle 13"/>
            <p:cNvSpPr/>
            <p:nvPr/>
          </p:nvSpPr>
          <p:spPr>
            <a:xfrm>
              <a:off x="3200400" y="2819400"/>
              <a:ext cx="2667000" cy="25908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905000" y="1828800"/>
              <a:ext cx="5257800" cy="7620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133600" y="1981200"/>
              <a:ext cx="2133600" cy="381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Planning</a:t>
              </a:r>
              <a:endParaRPr lang="en-US" sz="2000" dirty="0"/>
            </a:p>
          </p:txBody>
        </p:sp>
        <p:sp>
          <p:nvSpPr>
            <p:cNvPr id="7" name="Rectangle 6"/>
            <p:cNvSpPr/>
            <p:nvPr/>
          </p:nvSpPr>
          <p:spPr>
            <a:xfrm>
              <a:off x="4876800" y="1981200"/>
              <a:ext cx="2133600" cy="381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Overview Meeting</a:t>
              </a:r>
              <a:endParaRPr lang="en-US" sz="2000" dirty="0"/>
            </a:p>
          </p:txBody>
        </p:sp>
        <p:sp>
          <p:nvSpPr>
            <p:cNvPr id="8" name="Rectangle 7"/>
            <p:cNvSpPr/>
            <p:nvPr/>
          </p:nvSpPr>
          <p:spPr>
            <a:xfrm>
              <a:off x="3810000" y="3124200"/>
              <a:ext cx="1447800" cy="38100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Preparation</a:t>
              </a:r>
              <a:endParaRPr lang="en-US" dirty="0"/>
            </a:p>
          </p:txBody>
        </p:sp>
        <p:sp>
          <p:nvSpPr>
            <p:cNvPr id="9" name="Rectangle 8"/>
            <p:cNvSpPr/>
            <p:nvPr/>
          </p:nvSpPr>
          <p:spPr>
            <a:xfrm>
              <a:off x="3276600" y="3962400"/>
              <a:ext cx="2514600" cy="38100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Inspection Meeting</a:t>
              </a:r>
              <a:endParaRPr lang="en-US" dirty="0"/>
            </a:p>
          </p:txBody>
        </p:sp>
        <p:sp>
          <p:nvSpPr>
            <p:cNvPr id="10" name="Rectangle 9"/>
            <p:cNvSpPr/>
            <p:nvPr/>
          </p:nvSpPr>
          <p:spPr>
            <a:xfrm>
              <a:off x="3810000" y="4724400"/>
              <a:ext cx="1447800" cy="38100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Rework</a:t>
              </a:r>
              <a:endParaRPr lang="en-US" dirty="0"/>
            </a:p>
          </p:txBody>
        </p:sp>
        <p:sp>
          <p:nvSpPr>
            <p:cNvPr id="11" name="Rectangle 10"/>
            <p:cNvSpPr/>
            <p:nvPr/>
          </p:nvSpPr>
          <p:spPr>
            <a:xfrm>
              <a:off x="3733800" y="6019800"/>
              <a:ext cx="1600200" cy="3810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Follow-up</a:t>
              </a:r>
              <a:endParaRPr lang="en-US" dirty="0"/>
            </a:p>
          </p:txBody>
        </p:sp>
        <p:cxnSp>
          <p:nvCxnSpPr>
            <p:cNvPr id="16" name="Straight Arrow Connector 15"/>
            <p:cNvCxnSpPr>
              <a:stCxn id="5" idx="3"/>
              <a:endCxn id="7" idx="1"/>
            </p:cNvCxnSpPr>
            <p:nvPr/>
          </p:nvCxnSpPr>
          <p:spPr>
            <a:xfrm>
              <a:off x="4267200" y="2171700"/>
              <a:ext cx="6096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3" idx="2"/>
              <a:endCxn id="14" idx="0"/>
            </p:cNvCxnSpPr>
            <p:nvPr/>
          </p:nvCxnSpPr>
          <p:spPr>
            <a:xfrm rot="5400000">
              <a:off x="4419600" y="2705100"/>
              <a:ext cx="2286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8" idx="2"/>
              <a:endCxn id="9" idx="0"/>
            </p:cNvCxnSpPr>
            <p:nvPr/>
          </p:nvCxnSpPr>
          <p:spPr>
            <a:xfrm rot="5400000">
              <a:off x="4305300" y="3733800"/>
              <a:ext cx="4572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9" idx="2"/>
              <a:endCxn id="10" idx="0"/>
            </p:cNvCxnSpPr>
            <p:nvPr/>
          </p:nvCxnSpPr>
          <p:spPr>
            <a:xfrm rot="5400000">
              <a:off x="4343400" y="4533900"/>
              <a:ext cx="3810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4" idx="2"/>
              <a:endCxn id="11" idx="0"/>
            </p:cNvCxnSpPr>
            <p:nvPr/>
          </p:nvCxnSpPr>
          <p:spPr>
            <a:xfrm rot="5400000">
              <a:off x="4229100" y="5715000"/>
              <a:ext cx="6096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Curved Connector 32"/>
            <p:cNvCxnSpPr>
              <a:stCxn id="11" idx="1"/>
              <a:endCxn id="14" idx="1"/>
            </p:cNvCxnSpPr>
            <p:nvPr/>
          </p:nvCxnSpPr>
          <p:spPr>
            <a:xfrm rot="10800000">
              <a:off x="3200400" y="4114800"/>
              <a:ext cx="533400" cy="2095500"/>
            </a:xfrm>
            <a:prstGeom prst="curvedConnector3">
              <a:avLst>
                <a:gd name="adj1" fmla="val 209382"/>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6" name="Title 1"/>
          <p:cNvSpPr>
            <a:spLocks noGrp="1"/>
          </p:cNvSpPr>
          <p:nvPr>
            <p:ph type="title"/>
          </p:nvPr>
        </p:nvSpPr>
        <p:spPr>
          <a:xfrm>
            <a:off x="381000" y="228600"/>
            <a:ext cx="8610600" cy="990600"/>
          </a:xfrm>
        </p:spPr>
        <p:txBody>
          <a:bodyPr>
            <a:noAutofit/>
          </a:bodyPr>
          <a:lstStyle/>
          <a:p>
            <a:r>
              <a:rPr lang="en-US" dirty="0" smtClean="0"/>
              <a:t>Stages in Software Inspection Process</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Inspection Roles</a:t>
            </a:r>
            <a:endParaRPr lang="en-US" dirty="0"/>
          </a:p>
        </p:txBody>
      </p:sp>
      <p:sp>
        <p:nvSpPr>
          <p:cNvPr id="3" name="Content Placeholder 2"/>
          <p:cNvSpPr>
            <a:spLocks noGrp="1"/>
          </p:cNvSpPr>
          <p:nvPr>
            <p:ph sz="quarter" idx="1"/>
          </p:nvPr>
        </p:nvSpPr>
        <p:spPr/>
        <p:txBody>
          <a:bodyPr>
            <a:normAutofit fontScale="92500" lnSpcReduction="20000"/>
          </a:bodyPr>
          <a:lstStyle/>
          <a:p>
            <a:r>
              <a:rPr lang="en-GB" dirty="0" smtClean="0"/>
              <a:t>During an inspection the following roles are used.</a:t>
            </a:r>
          </a:p>
          <a:p>
            <a:r>
              <a:rPr lang="en-GB" b="1" dirty="0" smtClean="0"/>
              <a:t>Author:</a:t>
            </a:r>
            <a:r>
              <a:rPr lang="en-GB" dirty="0" smtClean="0"/>
              <a:t> The person who created the work product being inspected.</a:t>
            </a:r>
          </a:p>
          <a:p>
            <a:r>
              <a:rPr lang="en-GB" b="1" dirty="0" smtClean="0"/>
              <a:t>Moderator:</a:t>
            </a:r>
            <a:r>
              <a:rPr lang="en-GB" dirty="0" smtClean="0"/>
              <a:t> This is the leader of the inspection. The moderator plans the inspection and coordinates it.</a:t>
            </a:r>
          </a:p>
          <a:p>
            <a:r>
              <a:rPr lang="en-GB" b="1" dirty="0" smtClean="0"/>
              <a:t>Reader:</a:t>
            </a:r>
            <a:r>
              <a:rPr lang="en-GB" dirty="0" smtClean="0"/>
              <a:t> The person reading through the documents, one item at a time. The other inspectors then point out defects.</a:t>
            </a:r>
          </a:p>
          <a:p>
            <a:r>
              <a:rPr lang="en-GB" b="1" dirty="0" smtClean="0"/>
              <a:t>Recorder/Scribe:</a:t>
            </a:r>
            <a:r>
              <a:rPr lang="en-GB" dirty="0" smtClean="0"/>
              <a:t> The person that documents the defects that are found during the inspection.</a:t>
            </a:r>
          </a:p>
          <a:p>
            <a:r>
              <a:rPr lang="en-GB" b="1" dirty="0" smtClean="0"/>
              <a:t>Inspector:</a:t>
            </a:r>
            <a:r>
              <a:rPr lang="en-GB" dirty="0" smtClean="0"/>
              <a:t> The person that examines the work product to identify possible defects.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a:buClr>
                <a:schemeClr val="bg1"/>
              </a:buClr>
              <a:buSzPct val="70000"/>
              <a:buFont typeface="Wingdings" pitchFamily="2" charset="2"/>
              <a:buChar char="Ø"/>
            </a:pPr>
            <a:r>
              <a:rPr lang="en-US" dirty="0" smtClean="0">
                <a:solidFill>
                  <a:schemeClr val="bg1"/>
                </a:solidFill>
              </a:rPr>
              <a:t>Code Review</a:t>
            </a:r>
          </a:p>
          <a:p>
            <a:pPr>
              <a:buClr>
                <a:schemeClr val="bg1"/>
              </a:buClr>
              <a:buSzPct val="70000"/>
              <a:buFont typeface="Wingdings" pitchFamily="2" charset="2"/>
              <a:buChar char="Ø"/>
            </a:pPr>
            <a:r>
              <a:rPr lang="en-US" dirty="0" smtClean="0">
                <a:solidFill>
                  <a:schemeClr val="bg1"/>
                </a:solidFill>
              </a:rPr>
              <a:t>Peer Review</a:t>
            </a:r>
            <a:endParaRPr lang="en-US" dirty="0">
              <a:solidFill>
                <a:schemeClr val="bg1"/>
              </a:solidFill>
            </a:endParaRPr>
          </a:p>
        </p:txBody>
      </p:sp>
      <p:sp>
        <p:nvSpPr>
          <p:cNvPr id="3" name="Title 2"/>
          <p:cNvSpPr>
            <a:spLocks noGrp="1"/>
          </p:cNvSpPr>
          <p:nvPr>
            <p:ph type="title"/>
          </p:nvPr>
        </p:nvSpPr>
        <p:spPr/>
        <p:txBody>
          <a:bodyPr/>
          <a:lstStyle/>
          <a:p>
            <a:r>
              <a:rPr lang="en-US" dirty="0" smtClean="0"/>
              <a:t>Types of Software Inspection</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Review</a:t>
            </a:r>
            <a:endParaRPr lang="en-US" dirty="0"/>
          </a:p>
        </p:txBody>
      </p:sp>
      <p:sp>
        <p:nvSpPr>
          <p:cNvPr id="3" name="Content Placeholder 2"/>
          <p:cNvSpPr>
            <a:spLocks noGrp="1"/>
          </p:cNvSpPr>
          <p:nvPr>
            <p:ph sz="quarter" idx="1"/>
          </p:nvPr>
        </p:nvSpPr>
        <p:spPr>
          <a:xfrm>
            <a:off x="612648" y="1600200"/>
            <a:ext cx="8153400" cy="4724400"/>
          </a:xfrm>
        </p:spPr>
        <p:txBody>
          <a:bodyPr>
            <a:normAutofit fontScale="92500" lnSpcReduction="20000"/>
          </a:bodyPr>
          <a:lstStyle/>
          <a:p>
            <a:r>
              <a:rPr lang="en-GB" dirty="0" smtClean="0"/>
              <a:t>A code review can be done as a special kind of inspection in which the team examines a sample of code and fixes any defects in it. </a:t>
            </a:r>
          </a:p>
          <a:p>
            <a:r>
              <a:rPr lang="en-GB" dirty="0" smtClean="0"/>
              <a:t>In a code review, a defect is a block of code which does not properly implement its requirements, which does not function as the programmer intended, or which is not incorrect but could be improved (for example, it could be made more readable or its performance could be improved). </a:t>
            </a:r>
          </a:p>
          <a:p>
            <a:r>
              <a:rPr lang="en-GB" dirty="0" smtClean="0"/>
              <a:t>In addition to helping teams find and fix bugs, code reviews are useful for both cross-training programmers on the code being reviewed and for helping junior developers learn new programming techniques.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Peer Review</a:t>
            </a:r>
            <a:endParaRPr lang="en-US" dirty="0"/>
          </a:p>
        </p:txBody>
      </p:sp>
      <p:sp>
        <p:nvSpPr>
          <p:cNvPr id="3" name="Content Placeholder 2"/>
          <p:cNvSpPr>
            <a:spLocks noGrp="1"/>
          </p:cNvSpPr>
          <p:nvPr>
            <p:ph sz="quarter" idx="1"/>
          </p:nvPr>
        </p:nvSpPr>
        <p:spPr>
          <a:xfrm>
            <a:off x="612648" y="1600200"/>
            <a:ext cx="8153400" cy="4724400"/>
          </a:xfrm>
        </p:spPr>
        <p:txBody>
          <a:bodyPr>
            <a:normAutofit fontScale="92500" lnSpcReduction="20000"/>
          </a:bodyPr>
          <a:lstStyle/>
          <a:p>
            <a:r>
              <a:rPr lang="en-GB" dirty="0" smtClean="0"/>
              <a:t>Peer Reviews are considered an industry best-practice for detecting software defects early and learning about software </a:t>
            </a:r>
            <a:r>
              <a:rPr lang="en-GB" dirty="0" err="1" smtClean="0"/>
              <a:t>artifacts</a:t>
            </a:r>
            <a:r>
              <a:rPr lang="en-GB" dirty="0" smtClean="0"/>
              <a:t>. </a:t>
            </a:r>
          </a:p>
          <a:p>
            <a:r>
              <a:rPr lang="en-GB" dirty="0" smtClean="0"/>
              <a:t>Peer Reviews are composed of software walkthroughs and software inspections and are integral to software product engineering activities. </a:t>
            </a:r>
          </a:p>
          <a:p>
            <a:r>
              <a:rPr lang="en-GB" dirty="0" smtClean="0"/>
              <a:t>A collection of coordinated knowledge, skills, and behaviours facilitates the best possible practice of Peer Reviews. </a:t>
            </a:r>
          </a:p>
          <a:p>
            <a:r>
              <a:rPr lang="en-GB" dirty="0" smtClean="0"/>
              <a:t>The elements of Peer Reviews include the structured review process, standard of excellence product checklists, defined roles of participants, and the forms and reports.</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EdStudPr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34" ma:contentTypeDescription="Create a new document." ma:contentTypeScope="" ma:versionID="e4b7918f6d70a6bbd3ae09fdaae93119"/>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file>

<file path=customXml/itemProps1.xml><?xml version="1.0" encoding="utf-8"?>
<ds:datastoreItem xmlns:ds="http://schemas.openxmlformats.org/officeDocument/2006/customXml" ds:itemID="{E0914435-E756-48BB-A166-ECAB58D992C2}">
  <ds:schemaRefs>
    <ds:schemaRef ds:uri="http://schemas.microsoft.com/office/2006/metadata/contentType"/>
    <ds:schemaRef ds:uri="http://schemas.microsoft.com/office/2006/metadata/properties/metaAttributes"/>
  </ds:schemaRefs>
</ds:datastoreItem>
</file>

<file path=customXml/itemProps2.xml><?xml version="1.0" encoding="utf-8"?>
<ds:datastoreItem xmlns:ds="http://schemas.openxmlformats.org/officeDocument/2006/customXml" ds:itemID="{A9000B0E-F247-42DE-B4C8-953FA55828ED}">
  <ds:schemaRefs>
    <ds:schemaRef ds:uri="http://schemas.microsoft.com/sharepoint/v3/contenttype/forms"/>
  </ds:schemaRefs>
</ds:datastoreItem>
</file>

<file path=customXml/itemProps3.xml><?xml version="1.0" encoding="utf-8"?>
<ds:datastoreItem xmlns:ds="http://schemas.openxmlformats.org/officeDocument/2006/customXml" ds:itemID="{B58E645B-416C-46C0-8199-EBD1F0DEEE9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EdStudPres</Template>
  <TotalTime>0</TotalTime>
  <Words>1819</Words>
  <Application>Microsoft Office PowerPoint</Application>
  <PresentationFormat>On-screen Show (4:3)</PresentationFormat>
  <Paragraphs>168</Paragraphs>
  <Slides>34</Slides>
  <Notes>2</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EdStudPres</vt:lpstr>
      <vt:lpstr>Software Quality Assurance</vt:lpstr>
      <vt:lpstr>We Save on Testing Costs</vt:lpstr>
      <vt:lpstr>Less Testing Costs More</vt:lpstr>
      <vt:lpstr>V Model</vt:lpstr>
      <vt:lpstr>V Model: Static Tests</vt:lpstr>
      <vt:lpstr>Review</vt:lpstr>
      <vt:lpstr>What are Reviews?</vt:lpstr>
      <vt:lpstr>Why Bother, We Test Don’t We?</vt:lpstr>
      <vt:lpstr>Reviews: Direct Objectives</vt:lpstr>
      <vt:lpstr>Reviews: Indirect Objectives</vt:lpstr>
      <vt:lpstr>Who Benefits?</vt:lpstr>
      <vt:lpstr>Formal Technical Review</vt:lpstr>
      <vt:lpstr>Formal Technical Reviews</vt:lpstr>
      <vt:lpstr>Who, What and When</vt:lpstr>
      <vt:lpstr>Industry Experience with Formal Technical Reviews</vt:lpstr>
      <vt:lpstr>Review Methodology Taxonomy</vt:lpstr>
      <vt:lpstr>Families of Review Methods</vt:lpstr>
      <vt:lpstr>Software Inspection</vt:lpstr>
      <vt:lpstr>Software Inspections</vt:lpstr>
      <vt:lpstr>Software Inspections</vt:lpstr>
      <vt:lpstr>Why Inspections?</vt:lpstr>
      <vt:lpstr>Why Inspections?</vt:lpstr>
      <vt:lpstr>Slide 23</vt:lpstr>
      <vt:lpstr>Graph-Example</vt:lpstr>
      <vt:lpstr>Objective of Inspection</vt:lpstr>
      <vt:lpstr>Software Inspection Process</vt:lpstr>
      <vt:lpstr>Software Inspection Process</vt:lpstr>
      <vt:lpstr>Stages in Software Inspection Process</vt:lpstr>
      <vt:lpstr>Stages in Software Inspection Process</vt:lpstr>
      <vt:lpstr>Stages in Software Inspection Process</vt:lpstr>
      <vt:lpstr>Software Inspection Roles</vt:lpstr>
      <vt:lpstr>Types of Software Inspection</vt:lpstr>
      <vt:lpstr>Code Review</vt:lpstr>
      <vt:lpstr>Peer Review</vt:lpstr>
    </vt:vector>
  </TitlesOfParts>
  <Manager/>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2010-10-04T06:24:34Z</dcterms:created>
  <dcterms:modified xsi:type="dcterms:W3CDTF">2011-03-24T07:27:51Z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TC101671259990</vt:lpwstr>
  </property>
</Properties>
</file>